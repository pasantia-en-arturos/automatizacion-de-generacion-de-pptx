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9202400" cy="27432000"/>
  <p:notesSz cx="6858000" cy="9144000"/>
  <p:embeddedFontLst>
    <p:embeddedFont>
      <p:font typeface="Microsoft JhengHei Light" panose="020B0304030504040204" pitchFamily="34" charset="-120"/>
      <p:regular r:id="rId6"/>
    </p:embeddedFont>
    <p:embeddedFont>
      <p:font typeface="Montserrat ExtraBold" panose="020B0604020202020204" charset="0"/>
      <p:bold r:id="rId7"/>
      <p:boldItalic r:id="rId8"/>
    </p:embeddedFont>
    <p:embeddedFont>
      <p:font typeface="Poppins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0">
          <p15:clr>
            <a:srgbClr val="747775"/>
          </p15:clr>
        </p15:guide>
        <p15:guide id="2" pos="60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C5482-E0B3-872D-E81E-8BD47E11BB35}" v="112" dt="2026-07-23T13:52:27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>
        <p:scale>
          <a:sx n="33" d="100"/>
          <a:sy n="33" d="100"/>
        </p:scale>
        <p:origin x="2844" y="24"/>
      </p:cViewPr>
      <p:guideLst>
        <p:guide orient="horz" pos="8640"/>
        <p:guide pos="6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a Botana" userId="S::vbotana@arturos.com.ve::df8112e0-7a0c-412c-9f0f-89c174759516" providerId="AD" clId="Web-{C5DC5482-E0B3-872D-E81E-8BD47E11BB35}"/>
    <pc:docChg chg="modSld">
      <pc:chgData name="Valentina Botana" userId="S::vbotana@arturos.com.ve::df8112e0-7a0c-412c-9f0f-89c174759516" providerId="AD" clId="Web-{C5DC5482-E0B3-872D-E81E-8BD47E11BB35}" dt="2026-07-23T13:52:27.841" v="83" actId="1076"/>
      <pc:docMkLst>
        <pc:docMk/>
      </pc:docMkLst>
      <pc:sldChg chg="addSp modSp">
        <pc:chgData name="Valentina Botana" userId="S::vbotana@arturos.com.ve::df8112e0-7a0c-412c-9f0f-89c174759516" providerId="AD" clId="Web-{C5DC5482-E0B3-872D-E81E-8BD47E11BB35}" dt="2026-07-23T13:52:27.841" v="83" actId="1076"/>
        <pc:sldMkLst>
          <pc:docMk/>
          <pc:sldMk cId="0" sldId="256"/>
        </pc:sldMkLst>
        <pc:spChg chg="add mod">
          <ac:chgData name="Valentina Botana" userId="S::vbotana@arturos.com.ve::df8112e0-7a0c-412c-9f0f-89c174759516" providerId="AD" clId="Web-{C5DC5482-E0B3-872D-E81E-8BD47E11BB35}" dt="2026-07-23T13:50:12.560" v="30"/>
          <ac:spMkLst>
            <pc:docMk/>
            <pc:sldMk cId="0" sldId="256"/>
            <ac:spMk id="2" creationId="{8756F71F-8B26-3C85-2CA4-EBCA3117073E}"/>
          </ac:spMkLst>
        </pc:spChg>
        <pc:spChg chg="add mod">
          <ac:chgData name="Valentina Botana" userId="S::vbotana@arturos.com.ve::df8112e0-7a0c-412c-9f0f-89c174759516" providerId="AD" clId="Web-{C5DC5482-E0B3-872D-E81E-8BD47E11BB35}" dt="2026-07-23T13:51:33.404" v="57" actId="1076"/>
          <ac:spMkLst>
            <pc:docMk/>
            <pc:sldMk cId="0" sldId="256"/>
            <ac:spMk id="3" creationId="{F7D9E1CD-EB1A-3178-D34B-C65F2E7F2346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04.888" v="3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34.950" v="11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794" v="13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10" v="14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25" v="15" actId="107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1.951" v="58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7.576" v="59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19" v="68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35" v="69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51" v="70" actId="1076"/>
          <ac:spMkLst>
            <pc:docMk/>
            <pc:sldMk cId="0" sldId="256"/>
            <ac:spMk id="7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82" v="71" actId="1076"/>
          <ac:spMkLst>
            <pc:docMk/>
            <pc:sldMk cId="0" sldId="256"/>
            <ac:spMk id="7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29" v="72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44" v="73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76" v="7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07" v="75" actId="107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38" v="76" actId="1076"/>
          <ac:spMkLst>
            <pc:docMk/>
            <pc:sldMk cId="0" sldId="256"/>
            <ac:spMk id="8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69" v="77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16" v="78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32" v="79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63" v="80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94" v="81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10" v="82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41" v="83" actId="1076"/>
          <ac:spMkLst>
            <pc:docMk/>
            <pc:sldMk cId="0" sldId="256"/>
            <ac:spMk id="90" creationId="{00000000-0000-0000-0000-000000000000}"/>
          </ac:spMkLst>
        </pc:spChg>
        <pc:picChg chg="mod">
          <ac:chgData name="Valentina Botana" userId="S::vbotana@arturos.com.ve::df8112e0-7a0c-412c-9f0f-89c174759516" providerId="AD" clId="Web-{C5DC5482-E0B3-872D-E81E-8BD47E11BB35}" dt="2026-07-23T13:48:16.935" v="5" actId="1076"/>
          <ac:picMkLst>
            <pc:docMk/>
            <pc:sldMk cId="0" sldId="256"/>
            <ac:picMk id="56" creationId="{00000000-0000-0000-0000-000000000000}"/>
          </ac:picMkLst>
        </pc:picChg>
        <pc:picChg chg="mod">
          <ac:chgData name="Valentina Botana" userId="S::vbotana@arturos.com.ve::df8112e0-7a0c-412c-9f0f-89c174759516" providerId="AD" clId="Web-{C5DC5482-E0B3-872D-E81E-8BD47E11BB35}" dt="2026-07-23T13:48:48.669" v="16" actId="14100"/>
          <ac:picMkLst>
            <pc:docMk/>
            <pc:sldMk cId="0" sldId="256"/>
            <ac:picMk id="57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29173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bdaa48cf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bdaa48cf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bdaa48cf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bdaa48cf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54588" y="3971067"/>
            <a:ext cx="17893200" cy="109473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1pPr>
            <a:lvl2pPr lvl="1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2pPr>
            <a:lvl3pPr lvl="2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3pPr>
            <a:lvl4pPr lvl="3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4pPr>
            <a:lvl5pPr lvl="4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5pPr>
            <a:lvl6pPr lvl="5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6pPr>
            <a:lvl7pPr lvl="6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7pPr>
            <a:lvl8pPr lvl="7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8pPr>
            <a:lvl9pPr lvl="8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54570" y="15115333"/>
            <a:ext cx="17893200" cy="4227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54570" y="11471200"/>
            <a:ext cx="17893200" cy="4489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1pPr>
            <a:lvl2pPr lvl="1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2pPr>
            <a:lvl3pPr lvl="2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3pPr>
            <a:lvl4pPr lvl="3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4pPr>
            <a:lvl5pPr lvl="4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5pPr>
            <a:lvl6pPr lvl="5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6pPr>
            <a:lvl7pPr lvl="6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7pPr>
            <a:lvl8pPr lvl="7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8pPr>
            <a:lvl9pPr lvl="8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014804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54570" y="2963200"/>
            <a:ext cx="5896800" cy="40305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1pPr>
            <a:lvl2pPr lvl="1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2pPr>
            <a:lvl3pPr lvl="2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3pPr>
            <a:lvl4pPr lvl="3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4pPr>
            <a:lvl5pPr lvl="4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5pPr>
            <a:lvl6pPr lvl="5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6pPr>
            <a:lvl7pPr lvl="6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7pPr>
            <a:lvl8pPr lvl="7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8pPr>
            <a:lvl9pPr lvl="8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54570" y="7411200"/>
            <a:ext cx="5896800" cy="169569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029525" y="2400800"/>
            <a:ext cx="13372500" cy="21817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1pPr>
            <a:lvl2pPr lvl="1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2pPr>
            <a:lvl3pPr lvl="2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3pPr>
            <a:lvl4pPr lvl="3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4pPr>
            <a:lvl5pPr lvl="4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5pPr>
            <a:lvl6pPr lvl="5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6pPr>
            <a:lvl7pPr lvl="6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7pPr>
            <a:lvl8pPr lvl="7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8pPr>
            <a:lvl9pPr lvl="8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601200" y="-667"/>
            <a:ext cx="9601200" cy="274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0525" tIns="290525" rIns="290525" bIns="290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57550" y="6576933"/>
            <a:ext cx="8494800" cy="79056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1pPr>
            <a:lvl2pPr lvl="1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2pPr>
            <a:lvl3pPr lvl="2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3pPr>
            <a:lvl4pPr lvl="3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4pPr>
            <a:lvl5pPr lvl="4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5pPr>
            <a:lvl6pPr lvl="5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6pPr>
            <a:lvl7pPr lvl="6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7pPr>
            <a:lvl8pPr lvl="7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8pPr>
            <a:lvl9pPr lvl="8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57550" y="14949733"/>
            <a:ext cx="8494800" cy="65871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0372950" y="3861733"/>
            <a:ext cx="8057700" cy="197073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54570" y="22563067"/>
            <a:ext cx="12597600" cy="3227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20"/>
              <a:buNone/>
              <a:defRPr sz="572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54570" y="5899333"/>
            <a:ext cx="17893200" cy="104721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1pPr>
            <a:lvl2pPr lvl="1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2pPr>
            <a:lvl3pPr lvl="2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3pPr>
            <a:lvl4pPr lvl="3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4pPr>
            <a:lvl5pPr lvl="4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5pPr>
            <a:lvl6pPr lvl="5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6pPr>
            <a:lvl7pPr lvl="6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7pPr>
            <a:lvl8pPr lvl="7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8pPr>
            <a:lvl9pPr lvl="8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54570" y="16811867"/>
            <a:ext cx="17893200" cy="69375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 algn="ctr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720"/>
              <a:buChar char="●"/>
              <a:defRPr sz="5720">
                <a:solidFill>
                  <a:schemeClr val="dk2"/>
                </a:solidFill>
              </a:defRPr>
            </a:lvl1pPr>
            <a:lvl2pPr marL="914400" lvl="1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2pPr>
            <a:lvl3pPr marL="1371600" lvl="2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3pPr>
            <a:lvl4pPr marL="1828800" lvl="3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4pPr>
            <a:lvl5pPr marL="2286000" lvl="4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5pPr>
            <a:lvl6pPr marL="2743200" lvl="5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6pPr>
            <a:lvl7pPr marL="3200400" lvl="6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7pPr>
            <a:lvl8pPr marL="3657600" lvl="7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8pPr>
            <a:lvl9pPr marL="4114800" lvl="8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r">
              <a:buNone/>
              <a:defRPr sz="3178">
                <a:solidFill>
                  <a:schemeClr val="dk2"/>
                </a:solidFill>
              </a:defRPr>
            </a:lvl1pPr>
            <a:lvl2pPr lvl="1" algn="r">
              <a:buNone/>
              <a:defRPr sz="3178">
                <a:solidFill>
                  <a:schemeClr val="dk2"/>
                </a:solidFill>
              </a:defRPr>
            </a:lvl2pPr>
            <a:lvl3pPr lvl="2" algn="r">
              <a:buNone/>
              <a:defRPr sz="3178">
                <a:solidFill>
                  <a:schemeClr val="dk2"/>
                </a:solidFill>
              </a:defRPr>
            </a:lvl3pPr>
            <a:lvl4pPr lvl="3" algn="r">
              <a:buNone/>
              <a:defRPr sz="3178">
                <a:solidFill>
                  <a:schemeClr val="dk2"/>
                </a:solidFill>
              </a:defRPr>
            </a:lvl4pPr>
            <a:lvl5pPr lvl="4" algn="r">
              <a:buNone/>
              <a:defRPr sz="3178">
                <a:solidFill>
                  <a:schemeClr val="dk2"/>
                </a:solidFill>
              </a:defRPr>
            </a:lvl5pPr>
            <a:lvl6pPr lvl="5" algn="r">
              <a:buNone/>
              <a:defRPr sz="3178">
                <a:solidFill>
                  <a:schemeClr val="dk2"/>
                </a:solidFill>
              </a:defRPr>
            </a:lvl6pPr>
            <a:lvl7pPr lvl="6" algn="r">
              <a:buNone/>
              <a:defRPr sz="3178">
                <a:solidFill>
                  <a:schemeClr val="dk2"/>
                </a:solidFill>
              </a:defRPr>
            </a:lvl7pPr>
            <a:lvl8pPr lvl="7" algn="r">
              <a:buNone/>
              <a:defRPr sz="3178">
                <a:solidFill>
                  <a:schemeClr val="dk2"/>
                </a:solidFill>
              </a:defRPr>
            </a:lvl8pPr>
            <a:lvl9pPr lvl="8" algn="r">
              <a:buNone/>
              <a:defRPr sz="3178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62095" y="977926"/>
            <a:ext cx="952544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Guía </a:t>
            </a:r>
            <a:r>
              <a:rPr lang="en" sz="7200" dirty="0" err="1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Operativa</a:t>
            </a:r>
            <a:endParaRPr sz="72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var:Nombre_proceso"/>
          <p:cNvSpPr txBox="1"/>
          <p:nvPr/>
        </p:nvSpPr>
        <p:spPr>
          <a:xfrm>
            <a:off x="4337456" y="2608476"/>
            <a:ext cx="105855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6620" dirty="0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/>
            </a:r>
            <a:r>
              <a:rPr lang="es-VE" sz="6620" dirty="0" err="1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/>
            </a:r>
            <a:r>
              <a:rPr lang="es-VE" sz="6620" dirty="0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/>
            </a:r>
            <a:endParaRPr sz="6620" dirty="0">
              <a:latin typeface="Montserrat ExtraBold"/>
              <a:ea typeface="Microsoft JhengHei Light" panose="020B0304030504040204" pitchFamily="34" charset="-120"/>
              <a:cs typeface="Montserrat ExtraBold"/>
              <a:sym typeface="Montserrat ExtraBold"/>
            </a:endParaRPr>
          </a:p>
        </p:txBody>
      </p:sp>
      <p:pic>
        <p:nvPicPr>
          <p:cNvPr id="56" name="Google Shape;56;p13" title="arturo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1303" y="971900"/>
            <a:ext cx="1343055" cy="127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elemento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203" y="3797034"/>
            <a:ext cx="10572673" cy="73429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var:Fecha_vigencia"/>
          <p:cNvSpPr txBox="1"/>
          <p:nvPr/>
        </p:nvSpPr>
        <p:spPr>
          <a:xfrm>
            <a:off x="4539520" y="3945908"/>
            <a:ext cx="415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" name="var:codigo"/>
          <p:cNvSpPr txBox="1"/>
          <p:nvPr/>
        </p:nvSpPr>
        <p:spPr>
          <a:xfrm>
            <a:off x="9064452" y="3945908"/>
            <a:ext cx="343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FIN-001</a:t>
            </a: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" name="var:revisión"/>
          <p:cNvSpPr txBox="1"/>
          <p:nvPr/>
        </p:nvSpPr>
        <p:spPr>
          <a:xfrm>
            <a:off x="12813640" y="3948413"/>
            <a:ext cx="1956459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060350" y="5749187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2" name="Google Shape;62;p13"/>
          <p:cNvSpPr/>
          <p:nvPr/>
        </p:nvSpPr>
        <p:spPr>
          <a:xfrm>
            <a:off x="1060350" y="8895962"/>
            <a:ext cx="17033700" cy="5708400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3" name="Google Shape;63;p13"/>
          <p:cNvSpPr txBox="1"/>
          <p:nvPr/>
        </p:nvSpPr>
        <p:spPr>
          <a:xfrm>
            <a:off x="1593318" y="597455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4" name="var:objetivo"/>
          <p:cNvSpPr txBox="1"/>
          <p:nvPr/>
        </p:nvSpPr>
        <p:spPr>
          <a:xfrm>
            <a:off x="1593325" y="6827361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cs typeface="Poppins SemiBold"/>
                <a:sym typeface="Poppins SemiBold"/>
              </a:rPr>
              <a:t>Garantizar la exactitud del saldo en cuentas bancarias.</a:t>
            </a:r>
            <a:endParaRPr sz="5620" dirty="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593318" y="903546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Normas: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593325" y="9941778"/>
            <a:ext cx="73197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Antes de iniciar el proceso se debe: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" name="var:norma_1"/>
          <p:cNvSpPr txBox="1"/>
          <p:nvPr/>
        </p:nvSpPr>
        <p:spPr>
          <a:xfrm>
            <a:off x="1930627" y="10551057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Corte bancario al día 30/31 del mes.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var:norma_1"/>
          <p:cNvSpPr/>
          <p:nvPr/>
        </p:nvSpPr>
        <p:spPr>
          <a:xfrm>
            <a:off x="1698975" y="10781981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var:norma_2"/>
          <p:cNvSpPr txBox="1"/>
          <p:nvPr/>
        </p:nvSpPr>
        <p:spPr>
          <a:xfrm>
            <a:off x="1930627" y="12169819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" name="var:norma_2"/>
          <p:cNvSpPr/>
          <p:nvPr/>
        </p:nvSpPr>
        <p:spPr>
          <a:xfrm>
            <a:off x="1698975" y="1240074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var:norma_3"/>
          <p:cNvSpPr txBox="1"/>
          <p:nvPr/>
        </p:nvSpPr>
        <p:spPr>
          <a:xfrm>
            <a:off x="1930627" y="13350088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var:norma_3"/>
          <p:cNvSpPr/>
          <p:nvPr/>
        </p:nvSpPr>
        <p:spPr>
          <a:xfrm>
            <a:off x="1698975" y="13581012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1060350" y="14963163"/>
            <a:ext cx="17033700" cy="2259300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74" name="Google Shape;74;p13"/>
          <p:cNvSpPr txBox="1"/>
          <p:nvPr/>
        </p:nvSpPr>
        <p:spPr>
          <a:xfrm>
            <a:off x="1593317" y="14965754"/>
            <a:ext cx="154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Responsables: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5" name="var:responsable_1"/>
          <p:cNvSpPr txBox="1"/>
          <p:nvPr/>
        </p:nvSpPr>
        <p:spPr>
          <a:xfrm>
            <a:off x="1937850" y="15919728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Analista de Tesorería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var:responsable_1"/>
          <p:cNvSpPr/>
          <p:nvPr/>
        </p:nvSpPr>
        <p:spPr>
          <a:xfrm>
            <a:off x="1698975" y="16150648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var:responsable_2"/>
          <p:cNvSpPr txBox="1"/>
          <p:nvPr/>
        </p:nvSpPr>
        <p:spPr>
          <a:xfrm>
            <a:off x="1937850" y="1644401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8" name="var:responsable_2"/>
          <p:cNvSpPr/>
          <p:nvPr/>
        </p:nvSpPr>
        <p:spPr>
          <a:xfrm>
            <a:off x="1698975" y="16674937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var:material_1"/>
          <p:cNvSpPr/>
          <p:nvPr/>
        </p:nvSpPr>
        <p:spPr>
          <a:xfrm>
            <a:off x="1002337" y="17498830"/>
            <a:ext cx="17033700" cy="5255700"/>
          </a:xfrm>
          <a:prstGeom prst="roundRect">
            <a:avLst>
              <a:gd name="adj" fmla="val 9379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0" name="Google Shape;80;p13"/>
          <p:cNvSpPr txBox="1"/>
          <p:nvPr/>
        </p:nvSpPr>
        <p:spPr>
          <a:xfrm>
            <a:off x="1535304" y="17778791"/>
            <a:ext cx="1620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Equipos, Materiales y Suministros: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567693" y="186901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Materiales: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2" name="var:material_1"/>
          <p:cNvSpPr txBox="1"/>
          <p:nvPr/>
        </p:nvSpPr>
        <p:spPr>
          <a:xfrm>
            <a:off x="1879837" y="19285870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Extracto bancario Excel.</a:t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3" name="var:material_1"/>
          <p:cNvSpPr/>
          <p:nvPr/>
        </p:nvSpPr>
        <p:spPr>
          <a:xfrm>
            <a:off x="1640962" y="19516791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var:material-2"/>
          <p:cNvSpPr txBox="1"/>
          <p:nvPr/>
        </p:nvSpPr>
        <p:spPr>
          <a:xfrm>
            <a:off x="1879837" y="19890670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5" name="var:material_1"/>
          <p:cNvSpPr/>
          <p:nvPr/>
        </p:nvSpPr>
        <p:spPr>
          <a:xfrm>
            <a:off x="1640962" y="20121591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67675" y="205257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Equipos de Protección Personal: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7" name="var:equipo_1"/>
          <p:cNvSpPr txBox="1"/>
          <p:nvPr/>
        </p:nvSpPr>
        <p:spPr>
          <a:xfrm>
            <a:off x="1879837" y="2119054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8" name="var:material_1"/>
          <p:cNvSpPr/>
          <p:nvPr/>
        </p:nvSpPr>
        <p:spPr>
          <a:xfrm>
            <a:off x="1640962" y="21421466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var:equipo_2"/>
          <p:cNvSpPr txBox="1"/>
          <p:nvPr/>
        </p:nvSpPr>
        <p:spPr>
          <a:xfrm>
            <a:off x="1879837" y="21717195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var:equipo_2"/>
          <p:cNvSpPr/>
          <p:nvPr/>
        </p:nvSpPr>
        <p:spPr>
          <a:xfrm>
            <a:off x="1640962" y="21948116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var:Tip_2"/>
          <p:cNvSpPr/>
          <p:nvPr/>
        </p:nvSpPr>
        <p:spPr>
          <a:xfrm>
            <a:off x="1060350" y="23048387"/>
            <a:ext cx="17033700" cy="3836100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92" name="Google Shape;92;p13"/>
          <p:cNvSpPr txBox="1"/>
          <p:nvPr/>
        </p:nvSpPr>
        <p:spPr>
          <a:xfrm>
            <a:off x="1593317" y="23277191"/>
            <a:ext cx="154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Tips operativos: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var:tip_1"/>
          <p:cNvSpPr txBox="1"/>
          <p:nvPr/>
        </p:nvSpPr>
        <p:spPr>
          <a:xfrm>
            <a:off x="1937850" y="24261115"/>
            <a:ext cx="15654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4" name="var:tip_1"/>
          <p:cNvSpPr/>
          <p:nvPr/>
        </p:nvSpPr>
        <p:spPr>
          <a:xfrm>
            <a:off x="1698975" y="24492035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var:Tip_2"/>
          <p:cNvSpPr txBox="1"/>
          <p:nvPr/>
        </p:nvSpPr>
        <p:spPr>
          <a:xfrm>
            <a:off x="1937850" y="25332802"/>
            <a:ext cx="15654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" name="var:tip_3"/>
          <p:cNvSpPr/>
          <p:nvPr/>
        </p:nvSpPr>
        <p:spPr>
          <a:xfrm>
            <a:off x="1698975" y="25563723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var:tip_3"/>
          <p:cNvSpPr txBox="1"/>
          <p:nvPr/>
        </p:nvSpPr>
        <p:spPr>
          <a:xfrm>
            <a:off x="1937850" y="25903377"/>
            <a:ext cx="15654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8" name="var:tip_3"/>
          <p:cNvSpPr/>
          <p:nvPr/>
        </p:nvSpPr>
        <p:spPr>
          <a:xfrm>
            <a:off x="1698975" y="26134298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8756F71F-8B26-3C85-2CA4-EBCA3117073E}"/>
              </a:ext>
            </a:extLst>
          </p:cNvPr>
          <p:cNvSpPr/>
          <p:nvPr/>
        </p:nvSpPr>
        <p:spPr>
          <a:xfrm>
            <a:off x="11706699" y="4820272"/>
            <a:ext cx="6301241" cy="693415"/>
          </a:xfrm>
          <a:prstGeom prst="roundRect">
            <a:avLst>
              <a:gd name="adj" fmla="val 13941"/>
            </a:avLst>
          </a:prstGeom>
          <a:solidFill>
            <a:srgbClr val="F6F8F8"/>
          </a:solidFill>
          <a:ln w="381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D9E1CD-EB1A-3178-D34B-C65F2E7F2346}"/>
              </a:ext>
            </a:extLst>
          </p:cNvPr>
          <p:cNvSpPr txBox="1"/>
          <p:nvPr/>
        </p:nvSpPr>
        <p:spPr>
          <a:xfrm>
            <a:off x="11723531" y="4942022"/>
            <a:ext cx="352917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Tiempo de </a:t>
            </a:r>
            <a:r>
              <a:rPr lang="es-ES" sz="2300" b="1">
                <a:solidFill>
                  <a:srgbClr val="ED7D31"/>
                </a:solidFill>
                <a:latin typeface="Poppins SemiBold"/>
                <a:cs typeface="Poppins SemiBold"/>
              </a:rPr>
              <a:t>ejecución</a:t>
            </a:r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:</a:t>
            </a:r>
            <a:r>
              <a:rPr lang="es-ES" sz="2300" dirty="0">
                <a:latin typeface="Poppins SemiBold"/>
                <a:cs typeface="Poppins SemiBold"/>
              </a:rPr>
              <a:t> </a:t>
            </a:r>
          </a:p>
        </p:txBody>
      </p:sp>
      <p:sp>
        <p:nvSpPr>
          <p:cNvPr id="49" name="var:tiempo_ejecucion">
            <a:extLst>
              <a:ext uri="{FF2B5EF4-FFF2-40B4-BE49-F238E27FC236}">
                <a16:creationId xmlns:a16="http://schemas.microsoft.com/office/drawing/2014/main" id="{49D06808-E569-47F6-9328-721440970DAE}"/>
              </a:ext>
            </a:extLst>
          </p:cNvPr>
          <p:cNvSpPr txBox="1"/>
          <p:nvPr/>
        </p:nvSpPr>
        <p:spPr>
          <a:xfrm>
            <a:off x="15160452" y="4872938"/>
            <a:ext cx="352917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 horas</a:t>
            </a: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var:descripcion_paso_2"/>
          <p:cNvSpPr/>
          <p:nvPr/>
        </p:nvSpPr>
        <p:spPr>
          <a:xfrm>
            <a:off x="841200" y="227221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4" name="var:descripcion_paso_1"/>
          <p:cNvSpPr/>
          <p:nvPr/>
        </p:nvSpPr>
        <p:spPr>
          <a:xfrm>
            <a:off x="841200" y="1800637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5" name="Google Shape;105;p14"/>
          <p:cNvSpPr txBox="1"/>
          <p:nvPr/>
        </p:nvSpPr>
        <p:spPr>
          <a:xfrm>
            <a:off x="841200" y="1312825"/>
            <a:ext cx="17520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2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Conocimientos clave antes de iniciar</a:t>
            </a:r>
            <a:endParaRPr sz="662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41200" y="3236998"/>
            <a:ext cx="17033700" cy="6540600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7" name="var:titulo_conocimiento_1"/>
          <p:cNvSpPr/>
          <p:nvPr/>
        </p:nvSpPr>
        <p:spPr>
          <a:xfrm>
            <a:off x="1457125" y="3952919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var:titulo_conocimiento_1"/>
          <p:cNvSpPr txBox="1"/>
          <p:nvPr/>
        </p:nvSpPr>
        <p:spPr>
          <a:xfrm>
            <a:off x="1696983" y="3678263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/>
            </a: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/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" name="var:texto_conocimiento_1"/>
          <p:cNvSpPr txBox="1"/>
          <p:nvPr/>
        </p:nvSpPr>
        <p:spPr>
          <a:xfrm>
            <a:off x="1593325" y="4369990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var:titulo_conocimiento_2"/>
          <p:cNvSpPr/>
          <p:nvPr/>
        </p:nvSpPr>
        <p:spPr>
          <a:xfrm>
            <a:off x="1457125" y="5789744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var:titulo_conocimiento_2"/>
          <p:cNvSpPr txBox="1"/>
          <p:nvPr/>
        </p:nvSpPr>
        <p:spPr>
          <a:xfrm>
            <a:off x="1696983" y="5515088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/>
            </a: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/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var:texto_conocimiento_2"/>
          <p:cNvSpPr txBox="1"/>
          <p:nvPr/>
        </p:nvSpPr>
        <p:spPr>
          <a:xfrm>
            <a:off x="1593325" y="6206815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3" name="var:titulo_conocimiento_3"/>
          <p:cNvSpPr/>
          <p:nvPr/>
        </p:nvSpPr>
        <p:spPr>
          <a:xfrm>
            <a:off x="1457125" y="781090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var:titulo_conocimiento_3"/>
          <p:cNvSpPr txBox="1"/>
          <p:nvPr/>
        </p:nvSpPr>
        <p:spPr>
          <a:xfrm>
            <a:off x="1696983" y="7536247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/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var:texto_conocimiento_3"/>
          <p:cNvSpPr txBox="1"/>
          <p:nvPr/>
        </p:nvSpPr>
        <p:spPr>
          <a:xfrm>
            <a:off x="1593325" y="8227975"/>
            <a:ext cx="165006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41200" y="10455138"/>
            <a:ext cx="11856600" cy="15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2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Procedimiento</a:t>
            </a:r>
            <a:endParaRPr sz="882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41200" y="13155775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19" name="Google Shape;119;p14"/>
          <p:cNvSpPr txBox="1"/>
          <p:nvPr/>
        </p:nvSpPr>
        <p:spPr>
          <a:xfrm>
            <a:off x="1300917" y="13289551"/>
            <a:ext cx="9427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Contexto operativo: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0" name="var:contexto_operativo"/>
          <p:cNvSpPr txBox="1"/>
          <p:nvPr/>
        </p:nvSpPr>
        <p:spPr>
          <a:xfrm>
            <a:off x="1300906" y="14142362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Cierre mensual.</a:t>
            </a:r>
            <a:r>
              <a:rPr lang="es-MX" sz="3120" dirty="0" err="1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0" y="16978325"/>
            <a:ext cx="3158400" cy="104538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var:descripcion_paso_1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795166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var:descripcion_paso_1"/>
          <p:cNvSpPr txBox="1"/>
          <p:nvPr/>
        </p:nvSpPr>
        <p:spPr>
          <a:xfrm>
            <a:off x="1677579" y="1875112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4" name="var:descripcion_paso_2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22554367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var:descripcion_paso_2"/>
          <p:cNvSpPr txBox="1"/>
          <p:nvPr/>
        </p:nvSpPr>
        <p:spPr>
          <a:xfrm>
            <a:off x="1721769" y="23199163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var:descripcion_paso_1"/>
          <p:cNvSpPr txBox="1"/>
          <p:nvPr/>
        </p:nvSpPr>
        <p:spPr>
          <a:xfrm>
            <a:off x="4158375" y="18685737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Descargar estado de cuenta.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" name="var:descripcion_paso_2"/>
          <p:cNvSpPr txBox="1"/>
          <p:nvPr/>
        </p:nvSpPr>
        <p:spPr>
          <a:xfrm>
            <a:off x="4158375" y="24254237"/>
            <a:ext cx="8073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Importar en el módulo contable.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" name="var:descripcion_paso_1"/>
          <p:cNvSpPr/>
          <p:nvPr/>
        </p:nvSpPr>
        <p:spPr>
          <a:xfrm>
            <a:off x="15796225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29" name="var:descripcion_paso_1"/>
          <p:cNvSpPr/>
          <p:nvPr/>
        </p:nvSpPr>
        <p:spPr>
          <a:xfrm>
            <a:off x="12697800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30" name="var:descripcion_paso_2"/>
          <p:cNvSpPr/>
          <p:nvPr/>
        </p:nvSpPr>
        <p:spPr>
          <a:xfrm>
            <a:off x="15796225" y="234272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var:descripcion_paso_4"/>
          <p:cNvSpPr/>
          <p:nvPr/>
        </p:nvSpPr>
        <p:spPr>
          <a:xfrm>
            <a:off x="841200" y="62474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6" name="var:descripcion_paso_3"/>
          <p:cNvSpPr/>
          <p:nvPr/>
        </p:nvSpPr>
        <p:spPr>
          <a:xfrm>
            <a:off x="841200" y="15317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7" name="Google Shape;137;p15"/>
          <p:cNvSpPr/>
          <p:nvPr/>
        </p:nvSpPr>
        <p:spPr>
          <a:xfrm>
            <a:off x="0" y="-29750"/>
            <a:ext cx="3158400" cy="27432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var:descripcion_paso_3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476986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var:descripcion_paso_3"/>
          <p:cNvSpPr txBox="1"/>
          <p:nvPr/>
        </p:nvSpPr>
        <p:spPr>
          <a:xfrm>
            <a:off x="1677579" y="2276445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0" name="var:descripcion_paso_4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6079692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var:descripcion_paso_4"/>
          <p:cNvSpPr txBox="1"/>
          <p:nvPr/>
        </p:nvSpPr>
        <p:spPr>
          <a:xfrm>
            <a:off x="1513409" y="6784019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2" name="var:descripcion_paso_3"/>
          <p:cNvSpPr txBox="1"/>
          <p:nvPr/>
        </p:nvSpPr>
        <p:spPr>
          <a:xfrm>
            <a:off x="4158375" y="1918425"/>
            <a:ext cx="54429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Identificar partidas conciliadas.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3" name="var:descripcion_paso_4"/>
          <p:cNvSpPr txBox="1"/>
          <p:nvPr/>
        </p:nvSpPr>
        <p:spPr>
          <a:xfrm>
            <a:off x="4158375" y="7779550"/>
            <a:ext cx="107007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Elaborar reporte de diferencias.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4" name="var:descripcion_paso_6"/>
          <p:cNvSpPr/>
          <p:nvPr/>
        </p:nvSpPr>
        <p:spPr>
          <a:xfrm>
            <a:off x="841200" y="1565335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45" name="var:descripcion_paso_5"/>
          <p:cNvSpPr/>
          <p:nvPr/>
        </p:nvSpPr>
        <p:spPr>
          <a:xfrm>
            <a:off x="841200" y="109376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pic>
        <p:nvPicPr>
          <p:cNvPr id="146" name="var:descripcion_paso_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088291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var:descripcion_paso_5"/>
          <p:cNvSpPr txBox="1"/>
          <p:nvPr/>
        </p:nvSpPr>
        <p:spPr>
          <a:xfrm>
            <a:off x="1677579" y="1168237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8" name="var:descripcion_paso_6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5485617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var:descripcion_paso_5"/>
          <p:cNvSpPr txBox="1"/>
          <p:nvPr/>
        </p:nvSpPr>
        <p:spPr>
          <a:xfrm>
            <a:off x="4158375" y="12640274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Enviar reporte al supervisor para aprobación final.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53" name="var:descripcion_paso_7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20484492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var:descripcion_paso_3"/>
          <p:cNvSpPr/>
          <p:nvPr/>
        </p:nvSpPr>
        <p:spPr>
          <a:xfrm>
            <a:off x="157962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7" name="var:descripcion_paso_3"/>
          <p:cNvSpPr/>
          <p:nvPr/>
        </p:nvSpPr>
        <p:spPr>
          <a:xfrm>
            <a:off x="1277997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8" name="var:descripcion_paso_3"/>
          <p:cNvSpPr/>
          <p:nvPr/>
        </p:nvSpPr>
        <p:spPr>
          <a:xfrm>
            <a:off x="97524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9" name="var:descripcion_paso_4"/>
          <p:cNvSpPr/>
          <p:nvPr/>
        </p:nvSpPr>
        <p:spPr>
          <a:xfrm>
            <a:off x="15796225" y="6917313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60" name="var:descripcion_paso_5"/>
          <p:cNvSpPr/>
          <p:nvPr/>
        </p:nvSpPr>
        <p:spPr>
          <a:xfrm>
            <a:off x="15796225" y="116330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282</Words>
  <Application>Microsoft Office PowerPoint</Application>
  <PresentationFormat>Personalizado</PresentationFormat>
  <Paragraphs>72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Montserrat ExtraBold</vt:lpstr>
      <vt:lpstr>Arial</vt:lpstr>
      <vt:lpstr>Microsoft JhengHei Light</vt:lpstr>
      <vt:lpstr>Poppins SemiBold</vt:lpstr>
      <vt:lpstr>Simple Light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Nahomy Rada</cp:lastModifiedBy>
  <cp:revision>34</cp:revision>
  <dcterms:modified xsi:type="dcterms:W3CDTF">2026-07-23T14:39:00Z</dcterms:modified>
</cp:coreProperties>
</file>